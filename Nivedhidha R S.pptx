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5" r:id="rId6"/>
    <p:sldId id="271" r:id="rId7"/>
    <p:sldId id="266" r:id="rId8"/>
    <p:sldId id="268" r:id="rId9"/>
    <p:sldId id="269" r:id="rId10"/>
    <p:sldId id="270" r:id="rId11"/>
    <p:sldId id="272" r:id="rId12"/>
    <p:sldId id="274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12BE3E-4D41-486C-B51F-DD890BE449D9}" v="9" dt="2026-08-17T05:27:51.8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06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3834ac56c3e471c/Documents/Excel%20class/Sales_Performance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vi\OneDrive\Documents\Excel%20class\Sales_Performance_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vi\OneDrive\Documents\Excel%20class\Sales_Performance_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vi\OneDrive\Documents\Excel%20class\Sales_Performance_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[Sales_Performance_Analysis.xlsx]Pivot Tables.!PivotTable1</c:name>
    <c:fmtId val="20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circle"/>
          <c:size val="6"/>
          <c:spPr>
            <a:solidFill>
              <a:schemeClr val="accent1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'Pivot Tables.'!$B$3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Tables.'!$A$4:$A$8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'Pivot Tables.'!$B$4:$B$8</c:f>
              <c:numCache>
                <c:formatCode>General</c:formatCode>
                <c:ptCount val="4"/>
                <c:pt idx="0">
                  <c:v>1179273.3799999994</c:v>
                </c:pt>
                <c:pt idx="1">
                  <c:v>970306.06999999855</c:v>
                </c:pt>
                <c:pt idx="2">
                  <c:v>1010902.5500000004</c:v>
                </c:pt>
                <c:pt idx="3">
                  <c:v>870413.69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5C-4F1D-A4B9-83284316E7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shape val="box"/>
        <c:axId val="1607946863"/>
        <c:axId val="1649375503"/>
        <c:axId val="0"/>
      </c:bar3DChart>
      <c:catAx>
        <c:axId val="1607946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9375503"/>
        <c:crosses val="autoZero"/>
        <c:auto val="1"/>
        <c:lblAlgn val="ctr"/>
        <c:lblOffset val="100"/>
        <c:noMultiLvlLbl val="0"/>
      </c:catAx>
      <c:valAx>
        <c:axId val="1649375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7946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[Sales_Performance_Analysis.xlsx]Pivot Tables.!PivotTable1</c:name>
    <c:fmtId val="2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'Pivot Tables.'!$B$3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712-43DC-89BE-E5D074E64B4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8712-43DC-89BE-E5D074E64B43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8712-43DC-89BE-E5D074E64B43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8712-43DC-89BE-E5D074E64B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Tables.'!$A$4:$A$8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'Pivot Tables.'!$B$4:$B$8</c:f>
              <c:numCache>
                <c:formatCode>General</c:formatCode>
                <c:ptCount val="4"/>
                <c:pt idx="0">
                  <c:v>1179273.3799999994</c:v>
                </c:pt>
                <c:pt idx="1">
                  <c:v>970306.06999999855</c:v>
                </c:pt>
                <c:pt idx="2">
                  <c:v>1010902.5500000004</c:v>
                </c:pt>
                <c:pt idx="3">
                  <c:v>870413.69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712-43DC-89BE-E5D074E64B43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[Sales_Performance_Analysis.xlsx]Pivot Tables.!PivotTable1</c:name>
    <c:fmtId val="26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cap="all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  <a:round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solidFill>
          <a:schemeClr val="bg2">
            <a:lumMod val="75000"/>
            <a:alpha val="27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2206200074258222"/>
          <c:y val="0.18720104819393665"/>
          <c:w val="0.74610607231503412"/>
          <c:h val="0.7418640633227565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'Pivot Tables.'!$B$3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8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 prstMaterial="flat">
              <a:contourClr>
                <a:schemeClr val="accent1">
                  <a:lumMod val="50000"/>
                </a:schemeClr>
              </a:contourClr>
            </a:sp3d>
          </c:spPr>
          <c:invertIfNegative val="0"/>
          <c:dLbls>
            <c:spPr>
              <a:solidFill>
                <a:schemeClr val="accent1">
                  <a:alpha val="30000"/>
                </a:schemeClr>
              </a:solidFill>
              <a:ln>
                <a:solidFill>
                  <a:schemeClr val="lt1">
                    <a:alpha val="50000"/>
                  </a:schemeClr>
                </a:solidFill>
                <a:round/>
              </a:ln>
              <a:effectLst>
                <a:outerShdw blurRad="63500" dist="889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Tables.'!$A$4:$A$8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'Pivot Tables.'!$B$4:$B$8</c:f>
              <c:numCache>
                <c:formatCode>General</c:formatCode>
                <c:ptCount val="4"/>
                <c:pt idx="0">
                  <c:v>1179273.3799999994</c:v>
                </c:pt>
                <c:pt idx="1">
                  <c:v>970306.06999999855</c:v>
                </c:pt>
                <c:pt idx="2">
                  <c:v>1010902.5500000004</c:v>
                </c:pt>
                <c:pt idx="3">
                  <c:v>870413.69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5D-4B71-8E41-92BEDA27E7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4"/>
        <c:gapDepth val="53"/>
        <c:shape val="box"/>
        <c:axId val="1607946863"/>
        <c:axId val="1649375503"/>
        <c:axId val="0"/>
      </c:bar3DChart>
      <c:catAx>
        <c:axId val="1607946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9375503"/>
        <c:crosses val="autoZero"/>
        <c:auto val="1"/>
        <c:lblAlgn val="ctr"/>
        <c:lblOffset val="100"/>
        <c:noMultiLvlLbl val="0"/>
      </c:catAx>
      <c:valAx>
        <c:axId val="1649375503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607946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6350" cap="flat" cmpd="sng" algn="ctr">
      <a:solidFill>
        <a:schemeClr val="dk1">
          <a:tint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[Sales_Performance_Analysis.xlsx]Sheet4!PivotTable3</c:name>
    <c:fmtId val="31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6">
                  <a:shade val="53000"/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hade val="53000"/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shade val="53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6">
                  <a:shade val="76000"/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hade val="76000"/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shade val="76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6">
                  <a:tint val="77000"/>
                  <a:satMod val="103000"/>
                  <a:lumMod val="102000"/>
                  <a:tint val="94000"/>
                </a:schemeClr>
              </a:gs>
              <a:gs pos="50000">
                <a:schemeClr val="accent6">
                  <a:tint val="77000"/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tint val="77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6">
                  <a:tint val="54000"/>
                  <a:satMod val="103000"/>
                  <a:lumMod val="102000"/>
                  <a:tint val="94000"/>
                </a:schemeClr>
              </a:gs>
              <a:gs pos="50000">
                <a:schemeClr val="accent6">
                  <a:tint val="54000"/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tint val="54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6">
                  <a:shade val="53000"/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hade val="53000"/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shade val="53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6">
                  <a:shade val="76000"/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hade val="76000"/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shade val="76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6">
                  <a:tint val="77000"/>
                  <a:satMod val="103000"/>
                  <a:lumMod val="102000"/>
                  <a:tint val="94000"/>
                </a:schemeClr>
              </a:gs>
              <a:gs pos="50000">
                <a:schemeClr val="accent6">
                  <a:tint val="77000"/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tint val="77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6">
                  <a:tint val="54000"/>
                  <a:satMod val="103000"/>
                  <a:lumMod val="102000"/>
                  <a:tint val="94000"/>
                </a:schemeClr>
              </a:gs>
              <a:gs pos="50000">
                <a:schemeClr val="accent6">
                  <a:tint val="54000"/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tint val="54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6">
                  <a:shade val="53000"/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hade val="53000"/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shade val="53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6">
                  <a:shade val="76000"/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hade val="76000"/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shade val="76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6">
                  <a:tint val="77000"/>
                  <a:satMod val="103000"/>
                  <a:lumMod val="102000"/>
                  <a:tint val="94000"/>
                </a:schemeClr>
              </a:gs>
              <a:gs pos="50000">
                <a:schemeClr val="accent6">
                  <a:tint val="77000"/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tint val="77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6">
                  <a:tint val="54000"/>
                  <a:satMod val="103000"/>
                  <a:lumMod val="102000"/>
                  <a:tint val="94000"/>
                </a:schemeClr>
              </a:gs>
              <a:gs pos="50000">
                <a:schemeClr val="accent6">
                  <a:tint val="54000"/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tint val="54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Sheet4!$B$3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6">
                      <a:shade val="53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hade val="53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shade val="53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135E-40AB-BF60-B2927E9681DF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6">
                      <a:shade val="76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hade val="76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shade val="76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135E-40AB-BF60-B2927E9681DF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135E-40AB-BF60-B2927E9681DF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6">
                      <a:tint val="77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tint val="77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tint val="77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135E-40AB-BF60-B2927E9681DF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6">
                      <a:tint val="54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tint val="54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tint val="54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9-135E-40AB-BF60-B2927E9681DF}"/>
              </c:ext>
            </c:extLst>
          </c:dPt>
          <c:dLbls>
            <c:dLbl>
              <c:idx val="0"/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35E-40AB-BF60-B2927E9681DF}"/>
                </c:ext>
              </c:extLst>
            </c:dLbl>
            <c:dLbl>
              <c:idx val="1"/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35E-40AB-BF60-B2927E9681DF}"/>
                </c:ext>
              </c:extLst>
            </c:dLbl>
            <c:dLbl>
              <c:idx val="2"/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5E-40AB-BF60-B2927E9681DF}"/>
                </c:ext>
              </c:extLst>
            </c:dLbl>
            <c:dLbl>
              <c:idx val="3"/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35E-40AB-BF60-B2927E9681DF}"/>
                </c:ext>
              </c:extLst>
            </c:dLbl>
            <c:dLbl>
              <c:idx val="4"/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35E-40AB-BF60-B2927E9681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Sheet4!$A$4:$A$9</c:f>
              <c:strCache>
                <c:ptCount val="5"/>
                <c:pt idx="0">
                  <c:v>Clothing</c:v>
                </c:pt>
                <c:pt idx="1">
                  <c:v>Electronics</c:v>
                </c:pt>
                <c:pt idx="2">
                  <c:v>Furniture</c:v>
                </c:pt>
                <c:pt idx="3">
                  <c:v>Groceries</c:v>
                </c:pt>
                <c:pt idx="4">
                  <c:v>sports</c:v>
                </c:pt>
              </c:strCache>
            </c:strRef>
          </c:cat>
          <c:val>
            <c:numRef>
              <c:f>Sheet4!$B$4:$B$9</c:f>
              <c:numCache>
                <c:formatCode>General</c:formatCode>
                <c:ptCount val="5"/>
                <c:pt idx="0">
                  <c:v>855546.66999999993</c:v>
                </c:pt>
                <c:pt idx="1">
                  <c:v>803657.96000000054</c:v>
                </c:pt>
                <c:pt idx="2">
                  <c:v>835080.31999999983</c:v>
                </c:pt>
                <c:pt idx="3">
                  <c:v>739605.37999999942</c:v>
                </c:pt>
                <c:pt idx="4">
                  <c:v>797005.35999999964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35E-40AB-BF60-B2927E9681DF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2">
          <a:lumMod val="75000"/>
          <a:lumOff val="25000"/>
        </a:schemeClr>
      </a:solidFill>
      <a:round/>
    </a:ln>
    <a:effectLst>
      <a:outerShdw blurRad="50800" dist="38100" dir="2700000" algn="tl" rotWithShape="0">
        <a:prstClr val="black">
          <a:alpha val="40000"/>
        </a:prstClr>
      </a:outerShdw>
      <a:softEdge rad="12700"/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1">
  <cs:axisTitle>
    <cs:lnRef idx="0"/>
    <cs:fillRef idx="0"/>
    <cs:effectRef idx="0"/>
    <cs:fontRef idx="minor">
      <a:schemeClr val="lt1">
        <a:lumMod val="75000"/>
      </a:schemeClr>
    </cs:fontRef>
    <cs:defRPr sz="1197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6350" cap="flat" cmpd="sng" algn="ctr">
        <a:solidFill>
          <a:schemeClr val="dk1">
            <a:tint val="75000"/>
          </a:schemeClr>
        </a:solidFill>
        <a:round/>
      </a:ln>
    </cs:spPr>
    <cs:defRPr sz="133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30000"/>
        </a:schemeClr>
      </a:solidFill>
      <a:ln>
        <a:solidFill>
          <a:schemeClr val="lt1">
            <a:alpha val="50000"/>
          </a:schemeClr>
        </a:solidFill>
        <a:round/>
      </a:ln>
      <a:effectLst>
        <a:outerShdw blurRad="63500" dist="88900" dir="2700000" algn="tl" rotWithShape="0">
          <a:prstClr val="black">
            <a:alpha val="40000"/>
          </a:prstClr>
        </a:outerShdw>
      </a:effectLst>
    </cs:spPr>
    <cs:defRPr sz="1197" b="1" i="0" u="none" strike="noStrike" kern="1200" baseline="0"/>
  </cs:dataLabel>
  <cs:dataLabelCallout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30000"/>
        </a:schemeClr>
      </a:solidFill>
      <a:ln>
        <a:solidFill>
          <a:schemeClr val="lt1">
            <a:alpha val="50000"/>
          </a:schemeClr>
        </a:solidFill>
        <a:round/>
      </a:ln>
      <a:effectLst>
        <a:outerShdw blurRad="63500" dist="88900" dir="2700000" algn="tl" rotWithShape="0">
          <a:prstClr val="black">
            <a:alpha val="40000"/>
          </a:prstClr>
        </a:outerShdw>
      </a:effectLst>
    </cs:spPr>
    <cs:defRPr sz="1197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88000"/>
        </a:schemeClr>
      </a:solidFill>
      <a:ln>
        <a:solidFill>
          <a:schemeClr val="phClr">
            <a:lumMod val="50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88000"/>
        </a:schemeClr>
      </a:solidFill>
      <a:ln>
        <a:solidFill>
          <a:schemeClr val="phClr">
            <a:lumMod val="50000"/>
          </a:schemeClr>
        </a:solidFill>
      </a:ln>
      <a:scene3d>
        <a:camera prst="orthographicFront"/>
        <a:lightRig rig="threePt" dir="t"/>
      </a:scene3d>
      <a:sp3d prstMaterial="flat"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dk1">
            <a:lumMod val="75000"/>
            <a:lumOff val="25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solidFill>
        <a:schemeClr val="bg2">
          <a:lumMod val="75000"/>
          <a:alpha val="27000"/>
        </a:schemeClr>
      </a:solidFill>
      <a:sp3d/>
    </cs:spPr>
  </cs:floor>
  <cs:gridlineMajor>
    <cs:lnRef idx="0"/>
    <cs:fillRef idx="0"/>
    <cs:effectRef idx="0"/>
    <cs:fontRef idx="minor">
      <a:schemeClr val="tx1"/>
    </cs:fontRef>
    <cs:spPr>
      <a:ln w="9525">
        <a:solidFill>
          <a:schemeClr val="lt1">
            <a:lumMod val="50000"/>
          </a:schemeClr>
        </a:solidFill>
      </a:ln>
    </cs:spPr>
  </cs:gridlineMajor>
  <cs:gridlineMinor>
    <cs:lnRef idx="0"/>
    <cs:fillRef idx="0"/>
    <cs:effectRef idx="0"/>
    <cs:fontRef idx="minor">
      <a:schemeClr val="tx1"/>
    </cs:fontRef>
    <cs:spPr>
      <a:ln w="9525">
        <a:solidFill>
          <a:schemeClr val="lt1">
            <a:lumMod val="40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/>
    </cs:fontRef>
    <cs:defRPr sz="2200" b="0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sp3d/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8/17/2026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8/17/2026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8/17/2026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8/17/2026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>
              <a:defRPr sz="5400" b="1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8/17/2026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8/17/2026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8/17/2026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8/17/2026</a:t>
            </a:fld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8/17/2026</a:t>
            </a:fld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8/17/2026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8/17/2026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8/17/2026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E0FA9E5-6744-4841-888F-9E7CC0C2B7EC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1804" y="533400"/>
            <a:ext cx="7992888" cy="2514601"/>
          </a:xfrm>
        </p:spPr>
        <p:txBody>
          <a:bodyPr>
            <a:normAutofit/>
          </a:bodyPr>
          <a:lstStyle/>
          <a:p>
            <a:r>
              <a:rPr lang="en-IN" dirty="0" err="1"/>
              <a:t>Analyzing</a:t>
            </a:r>
            <a:r>
              <a:rPr lang="en-IN" dirty="0"/>
              <a:t> and Visualizing Regional Sales Performance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Retail Sales Analytics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25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ABC Electronics wants to assess its sales performance across different regions and product categories. The management needs a summarized report with visual insights to identify </a:t>
            </a:r>
            <a:r>
              <a:rPr lang="en-IN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topperforming</a:t>
            </a:r>
            <a:r>
              <a:rPr lang="en-IN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regions, products, and trends. As a business analyst, your task is to clean the data, </a:t>
            </a:r>
            <a:r>
              <a:rPr lang="en-IN" dirty="0" err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using formulas, and create a basic dashboard that provides actionable insights.</a:t>
            </a:r>
            <a:endParaRPr lang="en-US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23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Use Cases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E402B2-E421-0604-8BDD-AF1D4CCEC59A}"/>
              </a:ext>
            </a:extLst>
          </p:cNvPr>
          <p:cNvSpPr txBox="1"/>
          <p:nvPr/>
        </p:nvSpPr>
        <p:spPr>
          <a:xfrm>
            <a:off x="1773933" y="1772816"/>
            <a:ext cx="75608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Identifying top-performing regions and product categories.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Understanding the impact of discounts on sales and profit margins.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Providing actionable insights for marketing and inventory management.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Monitoring key sales metrics for strategic decision-making.  </a:t>
            </a:r>
          </a:p>
        </p:txBody>
      </p:sp>
    </p:spTree>
    <p:extLst>
      <p:ext uri="{BB962C8B-B14F-4D97-AF65-F5344CB8AC3E}">
        <p14:creationId xmlns:p14="http://schemas.microsoft.com/office/powerpoint/2010/main" val="1689064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Regional sales data</a:t>
            </a:r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BF7BAFB-135D-435A-B9A5-1A67914B07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5605381"/>
              </p:ext>
            </p:extLst>
          </p:nvPr>
        </p:nvGraphicFramePr>
        <p:xfrm>
          <a:off x="1340160" y="1994148"/>
          <a:ext cx="8136904" cy="38603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AB3D87-14DB-28D7-3D1E-BEA73096C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883"/>
            <a:ext cx="248580" cy="288032"/>
          </a:xfrm>
        </p:spPr>
        <p:txBody>
          <a:bodyPr>
            <a:normAutofit fontScale="85000" lnSpcReduction="20000"/>
          </a:bodyPr>
          <a:lstStyle/>
          <a:p>
            <a:pPr marL="4572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171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sales and profit of “Furniture” in each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Here we have total sales of furniture for each region</a:t>
            </a:r>
          </a:p>
          <a:p>
            <a:r>
              <a:rPr lang="en-US" dirty="0">
                <a:solidFill>
                  <a:schemeClr val="tx2"/>
                </a:solidFill>
              </a:rPr>
              <a:t>Also the profit of the furniture in each region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35765641"/>
              </p:ext>
            </p:extLst>
          </p:nvPr>
        </p:nvGraphicFramePr>
        <p:xfrm>
          <a:off x="5464174" y="1828800"/>
          <a:ext cx="5166741" cy="2537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2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Region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r>
                        <a:rPr lang="en-IN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sales for each region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profit</a:t>
                      </a:r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for the "</a:t>
                      </a:r>
                      <a:r>
                        <a:rPr lang="en-IN" sz="18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Furniture</a:t>
                      </a:r>
                      <a:r>
                        <a:rPr lang="en-IN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"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East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2922375.37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1006.265823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North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2539669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1023.382745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28088738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South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2492029.77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1023.382745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West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2153328.04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pitchFamily="34" charset="0"/>
                        </a:rPr>
                        <a:t>1023.382745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26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9133654" cy="879376"/>
          </a:xfrm>
        </p:spPr>
        <p:txBody>
          <a:bodyPr>
            <a:normAutofit fontScale="90000"/>
          </a:bodyPr>
          <a:lstStyle/>
          <a:p>
            <a:r>
              <a:rPr lang="en-US" dirty="0"/>
              <a:t>Sales performance analysis 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53F09EF-3648-4334-97AE-CA000E9BC4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4794596"/>
              </p:ext>
            </p:extLst>
          </p:nvPr>
        </p:nvGraphicFramePr>
        <p:xfrm>
          <a:off x="909836" y="2148474"/>
          <a:ext cx="4903741" cy="3099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BF7BAFB-135D-435A-B9A5-1A67914B07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479814"/>
              </p:ext>
            </p:extLst>
          </p:nvPr>
        </p:nvGraphicFramePr>
        <p:xfrm>
          <a:off x="6080316" y="2148474"/>
          <a:ext cx="5130745" cy="3080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3117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804" y="237557"/>
            <a:ext cx="8686801" cy="1066800"/>
          </a:xfrm>
        </p:spPr>
        <p:txBody>
          <a:bodyPr/>
          <a:lstStyle/>
          <a:p>
            <a:r>
              <a:rPr lang="en-US" dirty="0"/>
              <a:t>Profit of each category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EDE6394-E829-DE81-F4EA-37A8A5C816A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7244428"/>
              </p:ext>
            </p:extLst>
          </p:nvPr>
        </p:nvGraphicFramePr>
        <p:xfrm>
          <a:off x="621804" y="1772816"/>
          <a:ext cx="3528392" cy="31192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7656">
                  <a:extLst>
                    <a:ext uri="{9D8B030D-6E8A-4147-A177-3AD203B41FA5}">
                      <a16:colId xmlns:a16="http://schemas.microsoft.com/office/drawing/2014/main" val="2224658606"/>
                    </a:ext>
                  </a:extLst>
                </a:gridCol>
                <a:gridCol w="1700736">
                  <a:extLst>
                    <a:ext uri="{9D8B030D-6E8A-4147-A177-3AD203B41FA5}">
                      <a16:colId xmlns:a16="http://schemas.microsoft.com/office/drawing/2014/main" val="2376539908"/>
                    </a:ext>
                  </a:extLst>
                </a:gridCol>
              </a:tblGrid>
              <a:tr h="4456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rial Black" panose="020B0A04020102020204" pitchFamily="34" charset="0"/>
                        </a:rPr>
                        <a:t>Row Labels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rial Black" panose="020B0A04020102020204" pitchFamily="34" charset="0"/>
                        </a:rPr>
                        <a:t>Sum of Profit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13905719"/>
                  </a:ext>
                </a:extLst>
              </a:tr>
              <a:tr h="4456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rial Black" panose="020B0A04020102020204" pitchFamily="34" charset="0"/>
                        </a:rPr>
                        <a:t>Clothing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rial Black" panose="020B0A04020102020204" pitchFamily="34" charset="0"/>
                        </a:rPr>
                        <a:t>855546.67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01509424"/>
                  </a:ext>
                </a:extLst>
              </a:tr>
              <a:tr h="4456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rial Black" panose="020B0A04020102020204" pitchFamily="34" charset="0"/>
                        </a:rPr>
                        <a:t>Electronics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  <a:latin typeface="Arial Black" panose="020B0A04020102020204" pitchFamily="34" charset="0"/>
                        </a:rPr>
                        <a:t>803657.96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9833603"/>
                  </a:ext>
                </a:extLst>
              </a:tr>
              <a:tr h="4456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rial Black" panose="020B0A04020102020204" pitchFamily="34" charset="0"/>
                        </a:rPr>
                        <a:t>Furniture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rial Black" panose="020B0A04020102020204" pitchFamily="34" charset="0"/>
                        </a:rPr>
                        <a:t>835080.32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55950811"/>
                  </a:ext>
                </a:extLst>
              </a:tr>
              <a:tr h="4456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rial Black" panose="020B0A04020102020204" pitchFamily="34" charset="0"/>
                        </a:rPr>
                        <a:t>Groceries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rial Black" panose="020B0A04020102020204" pitchFamily="34" charset="0"/>
                        </a:rPr>
                        <a:t>739605.38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6711192"/>
                  </a:ext>
                </a:extLst>
              </a:tr>
              <a:tr h="4456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rial Black" panose="020B0A04020102020204" pitchFamily="34" charset="0"/>
                        </a:rPr>
                        <a:t>sports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rial Black" panose="020B0A04020102020204" pitchFamily="34" charset="0"/>
                        </a:rPr>
                        <a:t>797005.36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9031386"/>
                  </a:ext>
                </a:extLst>
              </a:tr>
              <a:tr h="4456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  <a:highlight>
                            <a:srgbClr val="FFFF00"/>
                          </a:highlight>
                          <a:latin typeface="Arial Black" panose="020B0A04020102020204" pitchFamily="34" charset="0"/>
                        </a:rPr>
                        <a:t>Grand Total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 Black" panose="020B0A040201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  <a:highlight>
                            <a:srgbClr val="FFFF00"/>
                          </a:highlight>
                          <a:latin typeface="Arial Black" panose="020B0A04020102020204" pitchFamily="34" charset="0"/>
                        </a:rPr>
                        <a:t>4030895.69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 Black" panose="020B0A040201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68066781"/>
                  </a:ext>
                </a:extLst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2110F73-A9DB-CFCF-355F-211EB607479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66111" y="1762674"/>
            <a:ext cx="2126654" cy="2589449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77DDE8F-1ED3-4819-CF29-5F01343D5D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2430598"/>
              </p:ext>
            </p:extLst>
          </p:nvPr>
        </p:nvGraphicFramePr>
        <p:xfrm>
          <a:off x="4130014" y="1762674"/>
          <a:ext cx="5420781" cy="2962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39579CE9-1B30-36F7-AF26-442A541106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4369" y="4781127"/>
            <a:ext cx="3964261" cy="164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0B2D62-4E27-0EF6-737C-192650BF97C4}"/>
              </a:ext>
            </a:extLst>
          </p:cNvPr>
          <p:cNvSpPr txBox="1"/>
          <p:nvPr/>
        </p:nvSpPr>
        <p:spPr>
          <a:xfrm>
            <a:off x="1119673" y="1054358"/>
            <a:ext cx="2166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Arial Black" panose="020B0A04020102020204" pitchFamily="34" charset="0"/>
              </a:rPr>
              <a:t>Results</a:t>
            </a:r>
            <a:endParaRPr lang="en-IN" sz="2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A1DD2E-3C5C-C0A6-9682-9CC0611F602A}"/>
              </a:ext>
            </a:extLst>
          </p:cNvPr>
          <p:cNvSpPr txBox="1"/>
          <p:nvPr/>
        </p:nvSpPr>
        <p:spPr>
          <a:xfrm>
            <a:off x="2388637" y="2006082"/>
            <a:ext cx="66581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 cleaned and structured dataset ready for analysis.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Key insights presented in visualizations, such as the best-performing region and product category.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An interactive dashboard summarizing sales performance metrics.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 basic regression analysis showing the relationship between discounts and sales. </a:t>
            </a:r>
          </a:p>
        </p:txBody>
      </p:sp>
    </p:spTree>
    <p:extLst>
      <p:ext uri="{BB962C8B-B14F-4D97-AF65-F5344CB8AC3E}">
        <p14:creationId xmlns:p14="http://schemas.microsoft.com/office/powerpoint/2010/main" val="164140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D7CE-1773-24B4-053D-BEB3A07FA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1BDDC-9B8D-3144-79D2-B56ED8783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E9013-F39D-6829-72D3-C8C538C24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5B870B-5FF5-316A-85E7-34DC627A5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16" y="0"/>
            <a:ext cx="10752097" cy="608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1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siness Contrast 16x9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E3B9166-2E01-44C0-B213-4E36B4FF9306}" vid="{9FB243D3-233B-4EB4-BE37-C505132985D4}"/>
    </a:ext>
  </a:extLst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4CEB76F-5C52-4F69-A3C1-2DBEA8CF74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7567CE-A543-444C-8597-EB22784911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32D51B-405E-4F81-B5A9-F253CD7FC48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contrast presentation (widescreen)</Template>
  <TotalTime>96</TotalTime>
  <Words>248</Words>
  <Application>Microsoft Office PowerPoint</Application>
  <PresentationFormat>Custom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Franklin Gothic Medium</vt:lpstr>
      <vt:lpstr>Wingdings</vt:lpstr>
      <vt:lpstr>Business Contrast 16x9</vt:lpstr>
      <vt:lpstr>Analyzing and Visualizing Regional Sales Performance </vt:lpstr>
      <vt:lpstr>Problem Statement</vt:lpstr>
      <vt:lpstr>Business Use Cases</vt:lpstr>
      <vt:lpstr>Regional sales data</vt:lpstr>
      <vt:lpstr>Total sales and profit of “Furniture” in each region</vt:lpstr>
      <vt:lpstr>Sales performance analysis Dashboard</vt:lpstr>
      <vt:lpstr>Profit of each category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nivi nivu</dc:creator>
  <cp:lastModifiedBy>nivi nivu</cp:lastModifiedBy>
  <cp:revision>3</cp:revision>
  <dcterms:created xsi:type="dcterms:W3CDTF">2026-08-16T08:44:43Z</dcterms:created>
  <dcterms:modified xsi:type="dcterms:W3CDTF">2026-08-17T05:52:29Z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